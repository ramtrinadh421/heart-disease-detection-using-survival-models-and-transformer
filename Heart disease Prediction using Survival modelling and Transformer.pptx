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79" r:id="rId9"/>
    <p:sldId id="272" r:id="rId10"/>
    <p:sldId id="283" r:id="rId11"/>
    <p:sldId id="290" r:id="rId12"/>
    <p:sldId id="291" r:id="rId13"/>
    <p:sldId id="277" r:id="rId14"/>
    <p:sldId id="289" r:id="rId15"/>
    <p:sldId id="288" r:id="rId16"/>
    <p:sldId id="287" r:id="rId17"/>
    <p:sldId id="27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5033" autoAdjust="0"/>
  </p:normalViewPr>
  <p:slideViewPr>
    <p:cSldViewPr snapToGrid="0" snapToObjects="1">
      <p:cViewPr varScale="1">
        <p:scale>
          <a:sx n="82" d="100"/>
          <a:sy n="82" d="100"/>
        </p:scale>
        <p:origin x="1613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4C85F8C0-1BE5-A4D8-0A0B-4A8748A478E9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824242" y="1628182"/>
            <a:ext cx="7808481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4000" dirty="0"/>
              <a:t>School of Computer Science and Engineering</a:t>
            </a:r>
            <a:endParaRPr lang="en-IN" altLang="en-US" sz="4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D40743-466D-DE4A-C943-61E390D6C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546" y="266828"/>
            <a:ext cx="345281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FC0E42-8F2D-86FA-1852-8EA980CB4B4C}"/>
              </a:ext>
            </a:extLst>
          </p:cNvPr>
          <p:cNvSpPr txBox="1"/>
          <p:nvPr/>
        </p:nvSpPr>
        <p:spPr>
          <a:xfrm>
            <a:off x="491613" y="3206219"/>
            <a:ext cx="78264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/>
              <a:t>Heart Disease Risk prediction using Survival Modelling and </a:t>
            </a:r>
            <a:r>
              <a:rPr lang="en-US" sz="2800" dirty="0"/>
              <a:t>Transformer </a:t>
            </a:r>
            <a:endParaRPr lang="en-IN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E63E69-8CEA-1CF9-3BF0-6BD04F3EE6FD}"/>
              </a:ext>
            </a:extLst>
          </p:cNvPr>
          <p:cNvSpPr txBox="1"/>
          <p:nvPr/>
        </p:nvSpPr>
        <p:spPr>
          <a:xfrm>
            <a:off x="139958" y="5091841"/>
            <a:ext cx="39095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dirty="0"/>
              <a:t>M KARTHIK	 	  22BCE9804 	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dirty="0"/>
              <a:t>M BALAJI ANUDEEP  22BCE9438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dirty="0"/>
              <a:t>K RAM TRINADH	  22BCE20368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dirty="0"/>
              <a:t>P ASHOK        		  22BCE20005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b="1" dirty="0"/>
          </a:p>
          <a:p>
            <a:pPr>
              <a:defRPr sz="1800"/>
            </a:pPr>
            <a:r>
              <a:rPr b="1" dirty="0"/>
              <a:t>Abstract</a:t>
            </a:r>
          </a:p>
          <a:p>
            <a:pPr>
              <a:defRPr sz="1800"/>
            </a:pPr>
            <a:r>
              <a:rPr b="1" dirty="0"/>
              <a:t>Introduction</a:t>
            </a:r>
          </a:p>
          <a:p>
            <a:pPr>
              <a:defRPr sz="1800"/>
            </a:pPr>
            <a:r>
              <a:rPr b="1" dirty="0"/>
              <a:t>Problem Statement</a:t>
            </a:r>
          </a:p>
          <a:p>
            <a:pPr>
              <a:defRPr sz="1800"/>
            </a:pPr>
            <a:r>
              <a:rPr b="1" dirty="0"/>
              <a:t>Objectives</a:t>
            </a:r>
          </a:p>
          <a:p>
            <a:pPr>
              <a:defRPr sz="1800"/>
            </a:pPr>
            <a:r>
              <a:rPr b="1" dirty="0"/>
              <a:t>Dataset Details</a:t>
            </a:r>
            <a:endParaRPr lang="en-US" b="1" dirty="0"/>
          </a:p>
          <a:p>
            <a:pPr>
              <a:defRPr sz="1800"/>
            </a:pPr>
            <a:r>
              <a:rPr lang="en-US" b="1" dirty="0"/>
              <a:t>Software Requirements</a:t>
            </a:r>
          </a:p>
          <a:p>
            <a:pPr>
              <a:defRPr sz="1800"/>
            </a:pPr>
            <a:r>
              <a:rPr lang="en-US" b="1" dirty="0"/>
              <a:t>Project Work Flow</a:t>
            </a:r>
          </a:p>
          <a:p>
            <a:pPr>
              <a:defRPr sz="1800"/>
            </a:pPr>
            <a:r>
              <a:rPr lang="en-US" b="1" dirty="0"/>
              <a:t>Explanation</a:t>
            </a:r>
          </a:p>
          <a:p>
            <a:pPr>
              <a:defRPr sz="1800"/>
            </a:pPr>
            <a:r>
              <a:rPr b="1" dirty="0" err="1"/>
              <a:t>Streamlit</a:t>
            </a:r>
            <a:r>
              <a:rPr b="1" dirty="0"/>
              <a:t> </a:t>
            </a:r>
            <a:r>
              <a:rPr lang="en-IN" b="1" dirty="0"/>
              <a:t>Web </a:t>
            </a:r>
            <a:r>
              <a:rPr b="1" dirty="0"/>
              <a:t>Application</a:t>
            </a:r>
            <a:r>
              <a:rPr lang="en-US" b="1" dirty="0"/>
              <a:t> </a:t>
            </a:r>
          </a:p>
          <a:p>
            <a:pPr>
              <a:defRPr sz="1800"/>
            </a:pPr>
            <a:r>
              <a:rPr b="1" dirty="0"/>
              <a:t>Results</a:t>
            </a:r>
            <a:endParaRPr lang="en-US" b="1" dirty="0"/>
          </a:p>
          <a:p>
            <a:pPr>
              <a:defRPr sz="1800"/>
            </a:pPr>
            <a:r>
              <a:rPr b="1" dirty="0"/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endParaRPr lang="en-US" b="1" dirty="0"/>
          </a:p>
          <a:p>
            <a:pPr>
              <a:defRPr sz="1800"/>
            </a:pPr>
            <a:r>
              <a:rPr b="1" dirty="0"/>
              <a:t>This project predicts heart disease risk using the Framingham Heart Study dataset.</a:t>
            </a:r>
          </a:p>
          <a:p>
            <a:pPr>
              <a:defRPr sz="1800"/>
            </a:pPr>
            <a:r>
              <a:rPr b="1" dirty="0"/>
              <a:t>A hybrid framework combining survival analysis and </a:t>
            </a:r>
            <a:r>
              <a:rPr lang="en-US" b="1" dirty="0"/>
              <a:t>Deep</a:t>
            </a:r>
            <a:r>
              <a:rPr b="1" dirty="0"/>
              <a:t> learning models is used to capture both time-dependent and non-linear relationships.</a:t>
            </a:r>
          </a:p>
          <a:p>
            <a:pPr>
              <a:defRPr sz="1800"/>
            </a:pPr>
            <a:r>
              <a:rPr b="1" dirty="0"/>
              <a:t>Models include Cox Proportional Hazards, </a:t>
            </a:r>
            <a:r>
              <a:rPr b="1" dirty="0" err="1"/>
              <a:t>DeepSurv</a:t>
            </a:r>
            <a:r>
              <a:rPr b="1" dirty="0"/>
              <a:t>, FT-Transformer, and SHAP for explainability.</a:t>
            </a:r>
          </a:p>
          <a:p>
            <a:pPr>
              <a:defRPr sz="1800"/>
            </a:pPr>
            <a:r>
              <a:rPr b="1" dirty="0"/>
              <a:t>An interactive </a:t>
            </a:r>
            <a:r>
              <a:rPr b="1" dirty="0" err="1"/>
              <a:t>Streamlit</a:t>
            </a:r>
            <a:r>
              <a:rPr b="1" dirty="0"/>
              <a:t> web application was developed for real-time prediction and interpretation.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endParaRPr lang="en-US" b="1" dirty="0"/>
          </a:p>
          <a:p>
            <a:pPr>
              <a:defRPr sz="1800"/>
            </a:pPr>
            <a:r>
              <a:rPr b="1" dirty="0"/>
              <a:t>Heart disease is one of the leading causes of mortality worldwide, emphasizing the need for accurate risk prediction systems.</a:t>
            </a:r>
          </a:p>
          <a:p>
            <a:pPr>
              <a:defRPr sz="1800"/>
            </a:pPr>
            <a:r>
              <a:rPr b="1" dirty="0"/>
              <a:t>Traditional methods rely on fixed risk charts and linear assumptions that fail to generalize well to diverse populations.</a:t>
            </a:r>
          </a:p>
          <a:p>
            <a:pPr>
              <a:defRPr sz="1800"/>
            </a:pPr>
            <a:r>
              <a:rPr b="1" dirty="0"/>
              <a:t>This project leverages advanced survival modeling and transformer architectures for more accurate, interpretable, and accessible predictions.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endParaRPr lang="en-US" b="1" dirty="0"/>
          </a:p>
          <a:p>
            <a:pPr>
              <a:defRPr sz="1800"/>
            </a:pPr>
            <a:r>
              <a:rPr b="1" dirty="0"/>
              <a:t>Manual clinical assessments are subjective and lack precision for long-term heart disease prediction.</a:t>
            </a:r>
          </a:p>
          <a:p>
            <a:pPr>
              <a:defRPr sz="1800"/>
            </a:pPr>
            <a:r>
              <a:rPr b="1" dirty="0"/>
              <a:t>Traditional models like logistic regression fail to capture non-linear and time-dependent relationships among variables.</a:t>
            </a:r>
            <a:endParaRPr lang="en-US" b="1" dirty="0"/>
          </a:p>
          <a:p>
            <a:pPr>
              <a:defRPr sz="1800"/>
            </a:pPr>
            <a:r>
              <a:rPr lang="en-US" b="1" dirty="0"/>
              <a:t>There is a lack of integrated survival and deep learning-based approaches for cardiovascular prediction tasks.</a:t>
            </a:r>
          </a:p>
          <a:p>
            <a:pPr>
              <a:defRPr sz="1800"/>
            </a:pPr>
            <a:r>
              <a:rPr lang="en-US" b="1" dirty="0"/>
              <a:t>Current methods often trade off interpretability for accuracy, creating barriers in clinical adoption.</a:t>
            </a:r>
          </a:p>
          <a:p>
            <a:pPr>
              <a:defRPr sz="1800"/>
            </a:pPr>
            <a:r>
              <a:rPr lang="en-US" b="1" dirty="0"/>
              <a:t>This project addresses these limitations by developing a transparent, hybrid prediction system with explainable outputs.</a:t>
            </a:r>
          </a:p>
          <a:p>
            <a:pPr>
              <a:defRPr sz="1800"/>
            </a:pPr>
            <a:endParaRPr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endParaRPr lang="en-US" b="1" dirty="0"/>
          </a:p>
          <a:p>
            <a:pPr>
              <a:defRPr sz="1800"/>
            </a:pPr>
            <a:r>
              <a:rPr b="1" dirty="0"/>
              <a:t>To develop a predictive framework for estimating</a:t>
            </a:r>
            <a:r>
              <a:rPr lang="en-US" b="1" dirty="0"/>
              <a:t> </a:t>
            </a:r>
            <a:r>
              <a:rPr b="1" dirty="0"/>
              <a:t>heart disease risk using survival modeling and </a:t>
            </a:r>
            <a:r>
              <a:rPr lang="en-US" b="1" dirty="0"/>
              <a:t>deep</a:t>
            </a:r>
            <a:r>
              <a:rPr b="1" dirty="0"/>
              <a:t> learning.</a:t>
            </a:r>
          </a:p>
          <a:p>
            <a:pPr>
              <a:defRPr sz="1800"/>
            </a:pPr>
            <a:r>
              <a:rPr b="1" dirty="0"/>
              <a:t>To compare and analyze the performance of Cox, </a:t>
            </a:r>
            <a:r>
              <a:rPr b="1" dirty="0" err="1"/>
              <a:t>DeepSurv</a:t>
            </a:r>
            <a:r>
              <a:rPr b="1" dirty="0"/>
              <a:t>, and FT-Transformer models.</a:t>
            </a:r>
          </a:p>
          <a:p>
            <a:pPr>
              <a:defRPr sz="1800"/>
            </a:pPr>
            <a:r>
              <a:rPr b="1" dirty="0"/>
              <a:t>To evaluate interpretability using SHAP for feature importance analysis.</a:t>
            </a:r>
            <a:endParaRPr lang="en-US" b="1" dirty="0"/>
          </a:p>
          <a:p>
            <a:pPr>
              <a:defRPr sz="1800"/>
            </a:pPr>
            <a:r>
              <a:rPr lang="en-US" b="1" dirty="0"/>
              <a:t>To preprocess and balance the Framingham dataset for optimal model training.</a:t>
            </a:r>
          </a:p>
          <a:p>
            <a:pPr>
              <a:defRPr sz="1800"/>
            </a:pPr>
            <a:r>
              <a:rPr lang="en-US" b="1" dirty="0"/>
              <a:t>To assess models using accuracy, concordance index, and AUC metrics.</a:t>
            </a:r>
          </a:p>
          <a:p>
            <a:pPr>
              <a:defRPr sz="1800"/>
            </a:pPr>
            <a:r>
              <a:rPr lang="en-US" b="1" dirty="0"/>
              <a:t>To deploy an end-to-end interactive </a:t>
            </a:r>
            <a:r>
              <a:rPr lang="en-US" b="1" dirty="0" err="1"/>
              <a:t>Streamlit</a:t>
            </a:r>
            <a:r>
              <a:rPr lang="en-US" b="1" dirty="0"/>
              <a:t> application for public use and visualization.</a:t>
            </a:r>
          </a:p>
          <a:p>
            <a:pPr>
              <a:defRPr sz="1800"/>
            </a:pPr>
            <a:endParaRPr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endParaRPr lang="en-US" sz="2000" b="1" dirty="0"/>
          </a:p>
          <a:p>
            <a:pPr>
              <a:defRPr sz="1800"/>
            </a:pPr>
            <a:r>
              <a:rPr sz="1800" b="1" dirty="0"/>
              <a:t>Dataset: Framingham Heart Study — a longitudinal study tracking cardiovascular risk factors.</a:t>
            </a:r>
          </a:p>
          <a:p>
            <a:pPr>
              <a:defRPr sz="1800"/>
            </a:pPr>
            <a:r>
              <a:rPr sz="1800" b="1" dirty="0"/>
              <a:t>Samples: 4,000+ records with 15 clinical and lifestyle variables.</a:t>
            </a:r>
          </a:p>
          <a:p>
            <a:pPr>
              <a:defRPr sz="1800"/>
            </a:pPr>
            <a:r>
              <a:rPr sz="1800" b="1" dirty="0"/>
              <a:t>Features include: </a:t>
            </a:r>
            <a:r>
              <a:rPr lang="en-IN" sz="1800" b="1" dirty="0">
                <a:solidFill>
                  <a:srgbClr val="000000"/>
                </a:solidFill>
                <a:latin typeface="Aptos Narrow" panose="020B0004020202020204" pitchFamily="34" charset="0"/>
              </a:rPr>
              <a:t>Gender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</a:t>
            </a:r>
            <a:r>
              <a:rPr lang="en-IN" sz="1800" b="1" dirty="0"/>
              <a:t> 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age,</a:t>
            </a:r>
            <a:r>
              <a:rPr lang="en-IN" sz="1800" b="1" dirty="0"/>
              <a:t> 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education,</a:t>
            </a:r>
            <a:r>
              <a:rPr lang="en-IN" sz="1800" b="1" dirty="0"/>
              <a:t> </a:t>
            </a:r>
            <a:r>
              <a:rPr lang="en-IN" sz="1800" b="1" i="0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currentSmoker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</a:t>
            </a:r>
            <a:r>
              <a:rPr lang="en-IN" sz="1800" b="1" dirty="0"/>
              <a:t> </a:t>
            </a:r>
            <a:r>
              <a:rPr lang="en-IN" sz="1800" b="1" i="0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cigsPerDay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</a:t>
            </a:r>
            <a:r>
              <a:rPr lang="en-IN" sz="1800" b="1" dirty="0"/>
              <a:t> </a:t>
            </a:r>
            <a:r>
              <a:rPr lang="en-IN" sz="1800" b="1" i="0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BPMeds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</a:t>
            </a:r>
            <a:r>
              <a:rPr lang="en-IN" sz="1800" b="1" dirty="0"/>
              <a:t> </a:t>
            </a:r>
            <a:r>
              <a:rPr lang="en-IN" sz="1800" b="1" i="0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prevalentStroke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</a:t>
            </a:r>
            <a:r>
              <a:rPr lang="en-IN" sz="1800" b="1" dirty="0"/>
              <a:t> </a:t>
            </a:r>
            <a:r>
              <a:rPr lang="en-IN" sz="1800" b="1" i="0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prevalentHyp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</a:t>
            </a:r>
            <a:r>
              <a:rPr lang="en-IN" sz="1800" b="1" dirty="0"/>
              <a:t> 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diabetes,</a:t>
            </a:r>
            <a:r>
              <a:rPr lang="en-IN" sz="1800" b="1" dirty="0"/>
              <a:t> </a:t>
            </a:r>
            <a:r>
              <a:rPr lang="en-IN" sz="1800" b="1" i="0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totCho,l</a:t>
            </a:r>
            <a:r>
              <a:rPr lang="en-IN" sz="1800" b="1" dirty="0"/>
              <a:t> </a:t>
            </a:r>
            <a:r>
              <a:rPr lang="en-IN" sz="1800" b="1" i="0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sysBP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</a:t>
            </a:r>
            <a:r>
              <a:rPr lang="en-IN" sz="1800" b="1" dirty="0"/>
              <a:t> </a:t>
            </a:r>
            <a:r>
              <a:rPr lang="en-IN" sz="1800" b="1" i="0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diaBP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</a:t>
            </a:r>
            <a:r>
              <a:rPr lang="en-IN" sz="1800" b="1" dirty="0"/>
              <a:t> 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BMI,</a:t>
            </a:r>
            <a:r>
              <a:rPr lang="en-IN" sz="1800" b="1" dirty="0"/>
              <a:t> 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heartrate,</a:t>
            </a:r>
            <a:r>
              <a:rPr lang="en-IN" sz="1800" b="1" dirty="0"/>
              <a:t> 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glucose,</a:t>
            </a:r>
            <a:r>
              <a:rPr lang="en-IN" sz="1800" b="1" dirty="0"/>
              <a:t> </a:t>
            </a:r>
            <a:r>
              <a:rPr lang="en-IN" sz="1800" b="1" i="0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TenYearCHD</a:t>
            </a:r>
            <a:r>
              <a:rPr lang="en-IN" sz="1800" b="1" dirty="0"/>
              <a:t> </a:t>
            </a:r>
            <a:r>
              <a:rPr sz="1800" b="1" dirty="0"/>
              <a:t>.</a:t>
            </a:r>
          </a:p>
          <a:p>
            <a:pPr>
              <a:defRPr sz="1800"/>
            </a:pPr>
            <a:r>
              <a:rPr sz="1800" b="1" dirty="0"/>
              <a:t>Target: </a:t>
            </a:r>
            <a:r>
              <a:rPr sz="1800" b="1" dirty="0" err="1"/>
              <a:t>TenYearCHD</a:t>
            </a:r>
            <a:r>
              <a:rPr sz="1800" b="1" dirty="0"/>
              <a:t> (binary variable indicating heart disease occurrence within 10 years).</a:t>
            </a:r>
          </a:p>
          <a:p>
            <a:pPr>
              <a:defRPr sz="1800"/>
            </a:pPr>
            <a:r>
              <a:rPr sz="1800" b="1" dirty="0"/>
              <a:t>Preprocessing involved imputing missing data, scaling features, and addressing class imbalance.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065E-48F3-0DA2-AE6F-AD131DF12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requirements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0362D-B560-97A2-87E6-F1ECEA8B8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/>
              <a:t>Software Requirements Language : Python 3.8+</a:t>
            </a:r>
          </a:p>
          <a:p>
            <a:r>
              <a:rPr lang="en-IN" sz="2000" b="1" dirty="0"/>
              <a:t>Frameworks : </a:t>
            </a:r>
            <a:r>
              <a:rPr lang="en-IN" sz="2000" b="1" dirty="0" err="1"/>
              <a:t>PyTorch</a:t>
            </a:r>
            <a:endParaRPr lang="en-IN" sz="2000" b="1" dirty="0"/>
          </a:p>
          <a:p>
            <a:r>
              <a:rPr lang="en-IN" sz="2000" b="1" dirty="0"/>
              <a:t>Libraries : Scikit-Learn, NumPy, Pandas, Matplotlib / Seaborn, SHAP, Lifelines, </a:t>
            </a:r>
            <a:r>
              <a:rPr lang="en-IN" sz="2000" b="1" dirty="0" err="1"/>
              <a:t>Joblib</a:t>
            </a:r>
            <a:endParaRPr lang="en-IN" sz="2000" b="1" dirty="0"/>
          </a:p>
          <a:p>
            <a:r>
              <a:rPr lang="en-IN" sz="2000" b="1" dirty="0"/>
              <a:t>Tools : Google </a:t>
            </a:r>
            <a:r>
              <a:rPr lang="en-IN" sz="2000" b="1" dirty="0" err="1"/>
              <a:t>Colab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972710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35705"/>
          </a:xfrm>
        </p:spPr>
        <p:txBody>
          <a:bodyPr>
            <a:normAutofit/>
          </a:bodyPr>
          <a:lstStyle/>
          <a:p>
            <a:r>
              <a:rPr sz="3000" dirty="0"/>
              <a:t>Project Workflow</a:t>
            </a:r>
          </a:p>
        </p:txBody>
      </p:sp>
      <p:pic>
        <p:nvPicPr>
          <p:cNvPr id="8" name="Picture 7" descr="A diagram of a training program&#10;&#10;AI-generated content may be incorrect.">
            <a:extLst>
              <a:ext uri="{FF2B5EF4-FFF2-40B4-BE49-F238E27FC236}">
                <a16:creationId xmlns:a16="http://schemas.microsoft.com/office/drawing/2014/main" id="{3D36DE7C-E69B-26E3-F7F8-47CA954FD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6367"/>
            <a:ext cx="9144000" cy="54494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BD48A-C6EC-6D39-0D0F-2ACF3BDF0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233" y="657808"/>
            <a:ext cx="8602824" cy="6060233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/>
              <a:t>Model Evaluation :</a:t>
            </a:r>
          </a:p>
          <a:p>
            <a:pPr lvl="1" algn="just"/>
            <a:r>
              <a:rPr lang="en-US" sz="1800" b="1" dirty="0"/>
              <a:t>Performance evaluation is done using both survival and classification metrics. The Concordance Index (C-index) measures how well predicted risks align with actual survival times ,a higher C-index indicates better predictive performance. </a:t>
            </a:r>
          </a:p>
          <a:p>
            <a:pPr lvl="1" algn="just"/>
            <a:r>
              <a:rPr lang="en-US" sz="1800" b="1" dirty="0"/>
              <a:t>Additionally, metrics such as accuracy are calculated for the classification head. Loss curves and C index graphs are analyzed to assess training stability and predictive performance.</a:t>
            </a:r>
          </a:p>
          <a:p>
            <a:pPr marL="457200" lvl="1" indent="0" algn="just">
              <a:buNone/>
            </a:pPr>
            <a:endParaRPr lang="en-US" sz="2000" b="1" dirty="0"/>
          </a:p>
          <a:p>
            <a:pPr algn="just"/>
            <a:r>
              <a:rPr lang="en-US" sz="2000" b="1" dirty="0"/>
              <a:t>Model Explainability (SHAP) :</a:t>
            </a:r>
          </a:p>
          <a:p>
            <a:pPr lvl="1" algn="just"/>
            <a:r>
              <a:rPr lang="en-US" sz="1800" b="1" dirty="0"/>
              <a:t>To ensure interpretability, the project employs SHAP (Shapley Additives Explanations) to visualize and explain the contribution of each feature to the final prediction. </a:t>
            </a:r>
          </a:p>
          <a:p>
            <a:pPr lvl="1" algn="just"/>
            <a:r>
              <a:rPr lang="en-US" sz="1800" b="1" dirty="0"/>
              <a:t>SHAP values identify which features most influence a patient’s heart disease risk typically age, cholesterol, and systolic blood pressure. This enhances transparency of FT Transformer model and helps clinicians trust and understand the model’s decisions.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3646903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2D4BB-16FF-2526-25D5-C29369653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Web Application Implementation</a:t>
            </a:r>
            <a:endParaRPr lang="en-IN" sz="40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37242A-9531-497E-E9F4-784B9EC31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226" y="1698170"/>
            <a:ext cx="7075524" cy="479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847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58BC8-8BCD-4BDB-140C-C7E1E65A7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Application Implementation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54C5EE-3877-D479-069F-14924C90D7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56793"/>
            <a:ext cx="8229600" cy="316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834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Results</a:t>
            </a:r>
          </a:p>
        </p:txBody>
      </p:sp>
      <p:pic>
        <p:nvPicPr>
          <p:cNvPr id="10" name="Content Placeholder 9" descr="A chart of a diagram&#10;&#10;AI-generated content may be incorrect.">
            <a:extLst>
              <a:ext uri="{FF2B5EF4-FFF2-40B4-BE49-F238E27FC236}">
                <a16:creationId xmlns:a16="http://schemas.microsoft.com/office/drawing/2014/main" id="{48DE953F-AC85-F72E-4BBB-404F891556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1249" y="1185738"/>
            <a:ext cx="3956180" cy="2877189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D5C324-7674-3AB2-BB64-58286F76FB98}"/>
              </a:ext>
            </a:extLst>
          </p:cNvPr>
          <p:cNvSpPr txBox="1"/>
          <p:nvPr/>
        </p:nvSpPr>
        <p:spPr>
          <a:xfrm>
            <a:off x="765110" y="3754286"/>
            <a:ext cx="236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Comparision</a:t>
            </a:r>
            <a:r>
              <a:rPr lang="en-US" dirty="0"/>
              <a:t> of Models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BD49C7-E865-62B7-A5E6-FB086630654B}"/>
              </a:ext>
            </a:extLst>
          </p:cNvPr>
          <p:cNvSpPr txBox="1"/>
          <p:nvPr/>
        </p:nvSpPr>
        <p:spPr>
          <a:xfrm>
            <a:off x="5066787" y="4057925"/>
            <a:ext cx="3750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Confusion matrix for FT-</a:t>
            </a:r>
            <a:r>
              <a:rPr lang="en-US" dirty="0" err="1"/>
              <a:t>Transformaer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6AFE87-A0B4-3B2B-A4AD-E55D0A0DB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44" y="1618557"/>
            <a:ext cx="4636070" cy="2011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showing different colored bars&#10;&#10;AI-generated content may be incorrect.">
            <a:extLst>
              <a:ext uri="{FF2B5EF4-FFF2-40B4-BE49-F238E27FC236}">
                <a16:creationId xmlns:a16="http://schemas.microsoft.com/office/drawing/2014/main" id="{7E252503-E429-311A-F27D-F7FAE65C4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01" y="960001"/>
            <a:ext cx="7323909" cy="436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334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D6BFD-6628-6DDA-C82B-71C1C5535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pic>
        <p:nvPicPr>
          <p:cNvPr id="5" name="Picture 4" descr="A graph showing a line graph&#10;&#10;AI-generated content may be incorrect.">
            <a:extLst>
              <a:ext uri="{FF2B5EF4-FFF2-40B4-BE49-F238E27FC236}">
                <a16:creationId xmlns:a16="http://schemas.microsoft.com/office/drawing/2014/main" id="{CA39DA5A-4294-626E-8171-97AEEA43A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51" y="1272780"/>
            <a:ext cx="4166049" cy="3013470"/>
          </a:xfrm>
          <a:prstGeom prst="rect">
            <a:avLst/>
          </a:prstGeom>
        </p:spPr>
      </p:pic>
      <p:pic>
        <p:nvPicPr>
          <p:cNvPr id="7" name="Picture 6" descr="A graph showing a line graph&#10;&#10;AI-generated content may be incorrect.">
            <a:extLst>
              <a:ext uri="{FF2B5EF4-FFF2-40B4-BE49-F238E27FC236}">
                <a16:creationId xmlns:a16="http://schemas.microsoft.com/office/drawing/2014/main" id="{E79731C5-CA00-C8C7-B11B-CE9E03BF9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380132"/>
            <a:ext cx="4699449" cy="30966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827BD7-F482-4B78-441B-30941D28A7AE}"/>
              </a:ext>
            </a:extLst>
          </p:cNvPr>
          <p:cNvSpPr txBox="1"/>
          <p:nvPr/>
        </p:nvSpPr>
        <p:spPr>
          <a:xfrm>
            <a:off x="628650" y="4507468"/>
            <a:ext cx="3437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Ft Transformer Training Loss Curve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D28A29-2CF7-5CAE-7F0A-C02DB528A546}"/>
              </a:ext>
            </a:extLst>
          </p:cNvPr>
          <p:cNvSpPr txBox="1"/>
          <p:nvPr/>
        </p:nvSpPr>
        <p:spPr>
          <a:xfrm>
            <a:off x="5221437" y="4577834"/>
            <a:ext cx="2940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Deepsurv</a:t>
            </a:r>
            <a:r>
              <a:rPr lang="en-US" b="1" dirty="0"/>
              <a:t> Training Loss Curve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53666-11DB-0A71-0C19-33D8DA7F2A37}"/>
              </a:ext>
            </a:extLst>
          </p:cNvPr>
          <p:cNvSpPr txBox="1"/>
          <p:nvPr/>
        </p:nvSpPr>
        <p:spPr>
          <a:xfrm>
            <a:off x="370626" y="5098018"/>
            <a:ext cx="84027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The FT-Transformer converged faster and more smoothly, showing efficient learning and stable optimization within 200 epochs, while </a:t>
            </a:r>
            <a:r>
              <a:rPr lang="en-US" b="1" dirty="0" err="1"/>
              <a:t>DeepSurv</a:t>
            </a:r>
            <a:r>
              <a:rPr lang="en-US" b="1" dirty="0"/>
              <a:t> learned more gradually with minor fluctuations, indicating slower but steady convergence. Overall, the FT-Transformer trained more efficiently, whereas </a:t>
            </a:r>
            <a:r>
              <a:rPr lang="en-US" b="1" dirty="0" err="1"/>
              <a:t>DeepSurv</a:t>
            </a:r>
            <a:r>
              <a:rPr lang="en-US" b="1" dirty="0"/>
              <a:t> showed consistent yet slower adaptation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83733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CB0EE-513F-D69E-768F-FD6A7ABC1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3F28F-6C2F-BC47-D664-C379C8C7F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b="1" dirty="0"/>
          </a:p>
          <a:p>
            <a:r>
              <a:rPr lang="en-US" sz="2200" b="1" dirty="0"/>
              <a:t>Integrating classical survival analysis with deep learning improves both accuracy and interpretability of heart disease risk prediction.</a:t>
            </a:r>
          </a:p>
          <a:p>
            <a:endParaRPr lang="en-US" sz="2200" b="1" dirty="0"/>
          </a:p>
          <a:p>
            <a:r>
              <a:rPr lang="en-US" sz="2200" b="1" dirty="0"/>
              <a:t>The web app converts model insights into a practical tool for early diagnosis and prevention.</a:t>
            </a:r>
          </a:p>
          <a:p>
            <a:endParaRPr lang="en-US" sz="2200" b="1" dirty="0"/>
          </a:p>
          <a:p>
            <a:r>
              <a:rPr lang="en-US" sz="2200" b="1" dirty="0"/>
              <a:t>FT-Transformer achieved the highest C-index, showing superior accuracy, stability, and interpretability for long-term CHD risk prediction.</a:t>
            </a:r>
            <a:endParaRPr lang="en-IN" sz="2200" b="1" dirty="0"/>
          </a:p>
        </p:txBody>
      </p:sp>
    </p:spTree>
    <p:extLst>
      <p:ext uri="{BB962C8B-B14F-4D97-AF65-F5344CB8AC3E}">
        <p14:creationId xmlns:p14="http://schemas.microsoft.com/office/powerpoint/2010/main" val="3748758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8397551" cy="5603648"/>
          </a:xfrm>
        </p:spPr>
        <p:txBody>
          <a:bodyPr>
            <a:normAutofit/>
          </a:bodyPr>
          <a:lstStyle/>
          <a:p>
            <a:r>
              <a:rPr sz="60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</TotalTime>
  <Words>736</Words>
  <Application>Microsoft Office PowerPoint</Application>
  <PresentationFormat>On-screen Show (4:3)</PresentationFormat>
  <Paragraphs>82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 Narrow</vt:lpstr>
      <vt:lpstr>Arial</vt:lpstr>
      <vt:lpstr>Calibri</vt:lpstr>
      <vt:lpstr>Office Theme</vt:lpstr>
      <vt:lpstr>PowerPoint Presentation</vt:lpstr>
      <vt:lpstr>Outline</vt:lpstr>
      <vt:lpstr>Abstract</vt:lpstr>
      <vt:lpstr>Introduction</vt:lpstr>
      <vt:lpstr>Problem Statement </vt:lpstr>
      <vt:lpstr>Objectives</vt:lpstr>
      <vt:lpstr>Dataset Details</vt:lpstr>
      <vt:lpstr>Software requirements</vt:lpstr>
      <vt:lpstr>Project Workflow</vt:lpstr>
      <vt:lpstr>PowerPoint Presentation</vt:lpstr>
      <vt:lpstr>Web Application Implementation</vt:lpstr>
      <vt:lpstr>Web Application Implementation</vt:lpstr>
      <vt:lpstr>Results</vt:lpstr>
      <vt:lpstr>PowerPoint Presentation</vt:lpstr>
      <vt:lpstr>Results</vt:lpstr>
      <vt:lpstr>Conclusion 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ramtrinadh kapalavyi</dc:creator>
  <cp:keywords/>
  <dc:description>generated using python-pptx</dc:description>
  <cp:lastModifiedBy>karthik m</cp:lastModifiedBy>
  <cp:revision>25</cp:revision>
  <dcterms:created xsi:type="dcterms:W3CDTF">2013-01-27T09:14:16Z</dcterms:created>
  <dcterms:modified xsi:type="dcterms:W3CDTF">2025-11-09T14:33:38Z</dcterms:modified>
  <cp:category/>
</cp:coreProperties>
</file>